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74" r:id="rId2"/>
    <p:sldId id="375" r:id="rId3"/>
    <p:sldId id="257" r:id="rId4"/>
    <p:sldId id="376" r:id="rId5"/>
    <p:sldId id="377" r:id="rId6"/>
    <p:sldId id="378" r:id="rId7"/>
    <p:sldId id="379" r:id="rId8"/>
    <p:sldId id="380" r:id="rId9"/>
    <p:sldId id="38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91" autoAdjust="0"/>
    <p:restoredTop sz="94660"/>
  </p:normalViewPr>
  <p:slideViewPr>
    <p:cSldViewPr snapToGrid="0">
      <p:cViewPr>
        <p:scale>
          <a:sx n="75" d="100"/>
          <a:sy n="75" d="100"/>
        </p:scale>
        <p:origin x="74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AFF0E-449D-426B-83E6-7E557F3BCD7F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2ADFC2-4656-49F6-8F5B-84313FD652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2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73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12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86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712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133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1306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953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264D7-FD5D-4592-B4BA-0A1638C28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22DA6-5CC0-4908-AB19-3BCB77EFC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F6F72-5872-4CEB-A8C1-89CFCA549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6BC3D-6474-4263-9B99-5E9D155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2E46B-395F-44BB-A399-301BD898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259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59695-79A9-4446-91E3-05E7FE7A1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6FC54-E211-48A1-8BCA-378B4D4D3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5B42F-19A5-4F50-9CDF-42D673EB0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EB133-FF63-4CDE-83A1-44AF473A2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2E08C-2449-4EE7-85C3-B82B5666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120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626C4-320A-4799-9AE2-8DDE1CA61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C3420-268D-4A73-990C-4BA315086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19061-FA9F-4CD9-8574-300E0E899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8B69E-7D13-401E-BA52-560698F83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F2BDD-5AC8-4AE3-8868-F8CC1DA76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694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219AC-BA64-4335-BA9B-DF3911CCE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8DA36-87D1-4E4A-8D55-031DDA3086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276BB-4B19-4B31-A15F-D171E88D8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E846C6-E4EC-417D-8F33-F85084C30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9D499-DC6A-4178-AFA3-2E2D44FD3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19571-DCCE-45D8-8783-EA6DC03D8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939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78171-0F87-491D-955D-347FAE8D0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3EC69-5405-4A73-84BD-F54C9837D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A1D5BF-B1AE-44F7-BF58-8E4B057CD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7E8175-A0D7-4248-A114-5AC9DF5116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338F68-9ACA-4AC9-B3EC-D38E662B2A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F9F48F-32B7-4E62-920E-426CD4A43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7049EB-BDFC-47EA-9692-76B73894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F573FA-F1A3-4137-8DF6-8477A299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541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EC694-79DB-4363-B1A5-15A50E69F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4B602A-C477-4739-9033-AA90AEB95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E378F1-E22C-4E55-9DDB-BB46A0C14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5B7E4F-F4BD-47E4-8AF4-FE65D660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687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180C5E-189E-4B16-8B64-6164F629D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B3E471-C627-4A6F-8940-20A4EE7AC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3B9AE-03BF-4E26-AF08-84460AF45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498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5660-5922-4086-9079-F98C845BC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CA404-6545-4C37-A301-16A160A00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04D32-44ED-4022-9B36-1EE734ED6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8BFFD-8B76-47E2-B9FB-5194F010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40FA1-8D0A-4E4C-9953-054729FB8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9A4A1-B2D3-4598-9C16-19E3F974E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538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7357B-DBC0-436F-82C9-9BE7A6D46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CAA78A-18AB-4BC5-BEFE-4D14122FCE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6BB34-FC6B-48B7-88A4-726F54735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AB742C-BF4E-4140-8947-871247A3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1326A-4386-47BF-8036-878141A47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5A690-66C4-49A2-AFF2-86E9646D8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603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FD690-141F-4B82-AAA6-311E8BB6E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5DCD3E-D233-4229-9571-4585EFE52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2A0F7-FDB1-43FF-A571-32B80EE10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B04E9-3520-49DA-836F-CFFB881FB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C8C8B-43E3-4E78-9BFA-28431143D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527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6DD375-6C7A-403C-8B36-D5D3CFCF0E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BF1880-F132-48C9-9D79-CA5068434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B219E-CEFA-45B4-9588-67FAD5B86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14DA2-B751-43ED-834C-17F142F9E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DBFD0-8FFE-4F10-9A8D-DC32F2294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288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0540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D61A3F-7420-4211-A9AF-443ACDC04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53A93-B55A-4668-86F8-9483DF49D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196E0-46F1-4FF9-A486-7116F5016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E07B5-C98B-47C4-829C-B640A6AEE9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13DEB-9452-48C6-802D-EC521E602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818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98">
            <a:extLst>
              <a:ext uri="{FF2B5EF4-FFF2-40B4-BE49-F238E27FC236}">
                <a16:creationId xmlns:a16="http://schemas.microsoft.com/office/drawing/2014/main" id="{AA78BBCF-2634-4089-8492-D8569E905F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5216" t="9860" r="35722" b="40504"/>
          <a:stretch/>
        </p:blipFill>
        <p:spPr>
          <a:xfrm>
            <a:off x="7372538" y="1619794"/>
            <a:ext cx="4421349" cy="5638238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966C81A6-8FBD-44BD-9DF5-A762864663F9}"/>
              </a:ext>
            </a:extLst>
          </p:cNvPr>
          <p:cNvSpPr txBox="1"/>
          <p:nvPr/>
        </p:nvSpPr>
        <p:spPr>
          <a:xfrm>
            <a:off x="0" y="604461"/>
            <a:ext cx="21825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Berlin Sans FB Demi" panose="020E0802020502020306" pitchFamily="34" charset="0"/>
                <a:ea typeface="SamsungOne 800" panose="020B0903030303020204" pitchFamily="34" charset="0"/>
              </a:rPr>
              <a:t>CLASH OF THE</a:t>
            </a:r>
            <a:endParaRPr lang="en-US" sz="2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2DB02A4-569F-4135-9840-A60286D3E03F}"/>
              </a:ext>
            </a:extLst>
          </p:cNvPr>
          <p:cNvSpPr txBox="1"/>
          <p:nvPr/>
        </p:nvSpPr>
        <p:spPr>
          <a:xfrm>
            <a:off x="1756232" y="436120"/>
            <a:ext cx="2091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CLAWS</a:t>
            </a:r>
            <a:endParaRPr lang="en-IN" sz="3600" dirty="0">
              <a:latin typeface="Berlin Sans FB Demi" panose="020E0802020502020306" pitchFamily="34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D060EA0-A6D1-484F-8987-38123CE63233}"/>
              </a:ext>
            </a:extLst>
          </p:cNvPr>
          <p:cNvSpPr txBox="1"/>
          <p:nvPr/>
        </p:nvSpPr>
        <p:spPr>
          <a:xfrm>
            <a:off x="235595" y="1425164"/>
            <a:ext cx="5132436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RVCE</a:t>
            </a:r>
          </a:p>
          <a:p>
            <a:pPr algn="ctr"/>
            <a:r>
              <a:rPr lang="en-US" sz="40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LOBSTERCLAW</a:t>
            </a:r>
          </a:p>
          <a:p>
            <a:pPr algn="ctr"/>
            <a:endParaRPr lang="en-US" sz="4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r>
              <a:rPr lang="en-US" sz="32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Cooking app that doesn’t just inspire you it shops for you</a:t>
            </a:r>
          </a:p>
          <a:p>
            <a:pPr algn="ctr"/>
            <a:endParaRPr lang="en-US" sz="32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r>
              <a:rPr lang="en-US" sz="28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Ajay Girish</a:t>
            </a:r>
          </a:p>
          <a:p>
            <a:pPr algn="ctr"/>
            <a:r>
              <a:rPr lang="en-US" sz="28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Rishon Thomas Joby</a:t>
            </a:r>
            <a:br>
              <a:rPr lang="en-US" sz="40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</a:br>
            <a:endParaRPr lang="en-US" sz="4000" b="1" dirty="0">
              <a:solidFill>
                <a:schemeClr val="tx2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63B24E-BBCD-4BAC-9AEF-81547E82C9E5}"/>
              </a:ext>
            </a:extLst>
          </p:cNvPr>
          <p:cNvGrpSpPr/>
          <p:nvPr/>
        </p:nvGrpSpPr>
        <p:grpSpPr>
          <a:xfrm>
            <a:off x="137355" y="46746"/>
            <a:ext cx="3814159" cy="639045"/>
            <a:chOff x="137355" y="133834"/>
            <a:chExt cx="3814159" cy="63904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C9D2D8C-378C-4311-B59D-9891D5378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355" y="133834"/>
              <a:ext cx="974396" cy="63904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A001E0-3B05-4E97-9F59-DA7472558885}"/>
                </a:ext>
              </a:extLst>
            </p:cNvPr>
            <p:cNvSpPr txBox="1"/>
            <p:nvPr/>
          </p:nvSpPr>
          <p:spPr>
            <a:xfrm>
              <a:off x="1017814" y="244337"/>
              <a:ext cx="29337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Berlin Sans FB Demi" panose="020E0802020502020306" pitchFamily="34" charset="0"/>
                  <a:ea typeface="SamsungOne 800" panose="020B0903030303020204" pitchFamily="34" charset="0"/>
                </a:rPr>
                <a:t>| Tech Management, SRI-B</a:t>
              </a:r>
              <a:endParaRPr lang="en-US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4731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33728"/>
            <a:ext cx="1084190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Why this theme (On-device)</a:t>
            </a:r>
            <a:r>
              <a:rPr lang="en-US" dirty="0"/>
              <a:t> Cooking decisions happen on your phone, in the moment — not at a desk. On-device AI means personalized help exactly where and when you need it, with zero friction.</a:t>
            </a:r>
          </a:p>
          <a:p>
            <a:endParaRPr lang="en-US" dirty="0"/>
          </a:p>
          <a:p>
            <a:r>
              <a:rPr lang="en-US" b="1" dirty="0"/>
              <a:t>The problem &amp; who faces it</a:t>
            </a:r>
            <a:r>
              <a:rPr lang="en-US" dirty="0"/>
              <a:t> A young working professional, cooking most nights after a long day, opens three different apps — one to find a recipe, two more to compare grocery prices across </a:t>
            </a:r>
            <a:r>
              <a:rPr lang="en-US" dirty="0" err="1"/>
              <a:t>Blinkit</a:t>
            </a:r>
            <a:r>
              <a:rPr lang="en-US" dirty="0"/>
              <a:t>, </a:t>
            </a:r>
            <a:r>
              <a:rPr lang="en-US" dirty="0" err="1"/>
              <a:t>Zepto</a:t>
            </a:r>
            <a:r>
              <a:rPr lang="en-US" dirty="0"/>
              <a:t>, and </a:t>
            </a:r>
            <a:r>
              <a:rPr lang="en-US" dirty="0" err="1"/>
              <a:t>Instamart</a:t>
            </a:r>
            <a:r>
              <a:rPr lang="en-US" dirty="0"/>
              <a:t> — and still ends up ordering out because the process is exhausting. Millions of young Indians face the same daily decision paralysis: what do I cook, and where do I buy it without overpaying?</a:t>
            </a:r>
          </a:p>
          <a:p>
            <a:endParaRPr lang="en-US" dirty="0"/>
          </a:p>
          <a:p>
            <a:r>
              <a:rPr lang="en-US" b="1" dirty="0"/>
              <a:t>Why it matters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India's quick-commerce market crossed ₹10,000 Cr in 2024 — the buying habit is already there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average urban Indian checks 3+ apps before deciding what to cook and where to buy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Without a unified tool, most end up defaulting to one app out of habit — often overpaying when a cheaper option was one tap away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existing app connects recipe discovery to live grocery price comparison in one flow, pushing people back to ordering out on Swiggy instead of cooking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is a daily decision for 50M+ urban Indians — not a niche problem, a daily utility gap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803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Current Solution &amp; Gaps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693843" y="1633728"/>
            <a:ext cx="10972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Existing Solutions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Recipe apps (Hebbar's Kitchen, Tasty, YouTube) — give recipes but stop there, no grocery connection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Grocery apps (</a:t>
            </a:r>
            <a:r>
              <a:rPr lang="en-US" dirty="0" err="1"/>
              <a:t>Blinkit</a:t>
            </a:r>
            <a:r>
              <a:rPr lang="en-US" dirty="0"/>
              <a:t>, </a:t>
            </a:r>
            <a:r>
              <a:rPr lang="en-US" dirty="0" err="1"/>
              <a:t>Zepto</a:t>
            </a:r>
            <a:r>
              <a:rPr lang="en-US" dirty="0"/>
              <a:t>, </a:t>
            </a:r>
            <a:r>
              <a:rPr lang="en-US" dirty="0" err="1"/>
              <a:t>Instamart</a:t>
            </a:r>
            <a:r>
              <a:rPr lang="en-US" dirty="0"/>
              <a:t>) — sell ingredients but have no recipe 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AI assistants (ChatGPT, Gemini) — suggest recipes but have no real-time Indian grocery price data</a:t>
            </a:r>
          </a:p>
          <a:p>
            <a:endParaRPr lang="en-US" dirty="0"/>
          </a:p>
          <a:p>
            <a:r>
              <a:rPr lang="en-US" b="1" dirty="0"/>
              <a:t>What's missing / broken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still need 3–4 apps to go from "what do I cook" to "where do I buy it" — nothing connects the two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Grocery apps have zero awareness of what you're trying to cook, so you're manually searching each ingredient one by 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AI tools give generic recipes with no price sensitivity — they don't know that </a:t>
            </a:r>
            <a:r>
              <a:rPr lang="en-US" dirty="0" err="1"/>
              <a:t>toor</a:t>
            </a:r>
            <a:r>
              <a:rPr lang="en-US" dirty="0"/>
              <a:t> dal is ₹23 cheaper on </a:t>
            </a:r>
            <a:r>
              <a:rPr lang="en-US" dirty="0" err="1"/>
              <a:t>Zepto</a:t>
            </a:r>
            <a:r>
              <a:rPr lang="en-US" dirty="0"/>
              <a:t> today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friction pushes people back to ordering out on Swiggy, which costs 3–4x more than cooking at home</a:t>
            </a:r>
          </a:p>
          <a:p>
            <a:endParaRPr lang="en-US" dirty="0"/>
          </a:p>
          <a:p>
            <a:r>
              <a:rPr lang="en-US" b="1" dirty="0"/>
              <a:t>Opportunity</a:t>
            </a:r>
            <a:r>
              <a:rPr lang="en-US" dirty="0"/>
              <a:t> </a:t>
            </a:r>
          </a:p>
          <a:p>
            <a:r>
              <a:rPr lang="en-US" dirty="0"/>
              <a:t>One app that takes a working professional from "what should I cook tonight?" to a full ingredient price comparison across all three stores — in under 30 seconds, on the phone already in their hand.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609600" y="1524000"/>
            <a:ext cx="1139952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we built</a:t>
            </a:r>
            <a:r>
              <a:rPr lang="en-US" dirty="0"/>
              <a:t> </a:t>
            </a:r>
          </a:p>
          <a:p>
            <a:r>
              <a:rPr lang="en-US" dirty="0" err="1"/>
              <a:t>LobsterClaw</a:t>
            </a:r>
            <a:r>
              <a:rPr lang="en-US" dirty="0"/>
              <a:t> — a Kotlin Android app that generates </a:t>
            </a:r>
            <a:r>
              <a:rPr lang="en-US" dirty="0" err="1"/>
              <a:t>personalised</a:t>
            </a:r>
            <a:r>
              <a:rPr lang="en-US" dirty="0"/>
              <a:t> Indian recipes based on your mood and taste profile, then fetches live grocery prices across </a:t>
            </a:r>
            <a:r>
              <a:rPr lang="en-US" dirty="0" err="1"/>
              <a:t>Blinkit</a:t>
            </a:r>
            <a:r>
              <a:rPr lang="en-US" dirty="0"/>
              <a:t>, </a:t>
            </a:r>
            <a:r>
              <a:rPr lang="en-US" dirty="0" err="1"/>
              <a:t>Zepto</a:t>
            </a:r>
            <a:r>
              <a:rPr lang="en-US" dirty="0"/>
              <a:t>, and </a:t>
            </a:r>
            <a:r>
              <a:rPr lang="en-US" dirty="0" err="1"/>
              <a:t>Instamart</a:t>
            </a:r>
            <a:r>
              <a:rPr lang="en-US" dirty="0"/>
              <a:t> so you always know where to buy cheapest.</a:t>
            </a:r>
          </a:p>
          <a:p>
            <a:endParaRPr lang="en-US" dirty="0"/>
          </a:p>
          <a:p>
            <a:r>
              <a:rPr lang="en-US" b="1" dirty="0"/>
              <a:t>Core idea</a:t>
            </a:r>
            <a:r>
              <a:rPr lang="en-US" dirty="0"/>
              <a:t> </a:t>
            </a:r>
          </a:p>
          <a:p>
            <a:r>
              <a:rPr lang="en-US" dirty="0"/>
              <a:t>Two AI layers working together. </a:t>
            </a:r>
            <a:r>
              <a:rPr lang="en-US" dirty="0" err="1"/>
              <a:t>OpenRouter</a:t>
            </a:r>
            <a:r>
              <a:rPr lang="en-US" dirty="0"/>
              <a:t> handles recipe generation — fast, smart, </a:t>
            </a:r>
            <a:r>
              <a:rPr lang="en-US" dirty="0" err="1"/>
              <a:t>personalised</a:t>
            </a:r>
            <a:r>
              <a:rPr lang="en-US" dirty="0"/>
              <a:t> to your cuisine preferences, spice level, and household size. </a:t>
            </a:r>
            <a:r>
              <a:rPr lang="en-US" dirty="0" err="1"/>
              <a:t>OpenClaw</a:t>
            </a:r>
            <a:r>
              <a:rPr lang="en-US" dirty="0"/>
              <a:t>, a self-hosted AI agent, handles live price fetching by searching all three stores in real time through </a:t>
            </a:r>
            <a:r>
              <a:rPr lang="en-US" dirty="0" err="1"/>
              <a:t>SearXNG</a:t>
            </a:r>
            <a:r>
              <a:rPr lang="en-US" dirty="0"/>
              <a:t>, a self-hosted search engine. No paid scraping APIs, no third-party price databases — just live results every time.</a:t>
            </a:r>
          </a:p>
          <a:p>
            <a:endParaRPr lang="en-US" dirty="0"/>
          </a:p>
          <a:p>
            <a:r>
              <a:rPr lang="en-US" b="1" dirty="0"/>
              <a:t>Key features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Mood-based recipe feed — Quick Cook, Weekend Mode, Budget Friendly, Healthy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Live price comparison across </a:t>
            </a:r>
            <a:r>
              <a:rPr lang="en-US" dirty="0" err="1"/>
              <a:t>Blinkit</a:t>
            </a:r>
            <a:r>
              <a:rPr lang="en-US" dirty="0"/>
              <a:t>, </a:t>
            </a:r>
            <a:r>
              <a:rPr lang="en-US" dirty="0" err="1"/>
              <a:t>Zepto</a:t>
            </a:r>
            <a:r>
              <a:rPr lang="en-US" dirty="0"/>
              <a:t>, and </a:t>
            </a:r>
            <a:r>
              <a:rPr lang="en-US" dirty="0" err="1"/>
              <a:t>Instamart</a:t>
            </a:r>
            <a:r>
              <a:rPr lang="en-US" dirty="0"/>
              <a:t> with the best deal highlighted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Customise</a:t>
            </a:r>
            <a:r>
              <a:rPr lang="en-US" dirty="0"/>
              <a:t> any recipe on the fly — tap a tag like "vegan" or "low-carb" and the recipe adapts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Save recipes offline, and an AI chat tab for any cooking question</a:t>
            </a:r>
          </a:p>
        </p:txBody>
      </p:sp>
    </p:spTree>
    <p:extLst>
      <p:ext uri="{BB962C8B-B14F-4D97-AF65-F5344CB8AC3E}">
        <p14:creationId xmlns:p14="http://schemas.microsoft.com/office/powerpoint/2010/main" val="1005258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542488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Demo/Product Walkthrough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65BACE-6420-0E65-0122-4375D637E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99" y="1575989"/>
            <a:ext cx="2064921" cy="42302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D3A237D-43E2-1E5A-B100-05F8B850C5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2033" y="1575989"/>
            <a:ext cx="2414473" cy="42302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299C5C8-28E2-C03E-DD66-9EA396B67E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511" y="1575989"/>
            <a:ext cx="2505735" cy="423026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A780BB4-632D-5123-53AF-85C047BCC6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1185" y="2566402"/>
            <a:ext cx="2899536" cy="172519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380C1F0-1485-B902-AC3F-09073FA97A16}"/>
              </a:ext>
            </a:extLst>
          </p:cNvPr>
          <p:cNvSpPr txBox="1"/>
          <p:nvPr/>
        </p:nvSpPr>
        <p:spPr>
          <a:xfrm>
            <a:off x="609600" y="5882640"/>
            <a:ext cx="1798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Recipe Suggestions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83EE71-E08B-694C-D22C-A1F904D65338}"/>
              </a:ext>
            </a:extLst>
          </p:cNvPr>
          <p:cNvSpPr txBox="1"/>
          <p:nvPr/>
        </p:nvSpPr>
        <p:spPr>
          <a:xfrm>
            <a:off x="3454400" y="5806253"/>
            <a:ext cx="22721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Taste and Dietary Personalization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A88C99-5FC2-7592-4F6C-76DEC9B3D824}"/>
              </a:ext>
            </a:extLst>
          </p:cNvPr>
          <p:cNvSpPr txBox="1"/>
          <p:nvPr/>
        </p:nvSpPr>
        <p:spPr>
          <a:xfrm>
            <a:off x="6695440" y="5806253"/>
            <a:ext cx="2265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Fetching of Recipe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8BE00C-F706-24F3-58C0-0948FFD66E30}"/>
              </a:ext>
            </a:extLst>
          </p:cNvPr>
          <p:cNvSpPr txBox="1"/>
          <p:nvPr/>
        </p:nvSpPr>
        <p:spPr>
          <a:xfrm>
            <a:off x="9306560" y="5806253"/>
            <a:ext cx="2651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Fetching of ingredients from quick commerce sites at best possible price</a:t>
            </a:r>
          </a:p>
        </p:txBody>
      </p:sp>
    </p:spTree>
    <p:extLst>
      <p:ext uri="{BB962C8B-B14F-4D97-AF65-F5344CB8AC3E}">
        <p14:creationId xmlns:p14="http://schemas.microsoft.com/office/powerpoint/2010/main" val="452960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Architecture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537888" y="1395928"/>
            <a:ext cx="1111622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Tech Stack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Kotlin + Jetpack Compose + Material 3 (UI)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Room for offline saved recipes, </a:t>
            </a:r>
            <a:r>
              <a:rPr lang="en-IN" dirty="0" err="1"/>
              <a:t>SharedPreferences</a:t>
            </a:r>
            <a:r>
              <a:rPr lang="en-IN" dirty="0"/>
              <a:t> for user taste profile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OkHttp</a:t>
            </a:r>
            <a:r>
              <a:rPr lang="en-IN" dirty="0"/>
              <a:t> + </a:t>
            </a:r>
            <a:r>
              <a:rPr lang="en-IN" dirty="0" err="1"/>
              <a:t>Gson</a:t>
            </a:r>
            <a:r>
              <a:rPr lang="en-IN" dirty="0"/>
              <a:t> for all networking</a:t>
            </a:r>
          </a:p>
          <a:p>
            <a:endParaRPr lang="en-IN" dirty="0"/>
          </a:p>
          <a:p>
            <a:r>
              <a:rPr lang="en-IN" b="1" dirty="0"/>
              <a:t>AI Usage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OpenRouter</a:t>
            </a:r>
            <a:r>
              <a:rPr lang="en-IN" dirty="0"/>
              <a:t> — recipe generation, recipe customisation, and AI chat (streaming responses)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OpenClaw</a:t>
            </a:r>
            <a:r>
              <a:rPr lang="en-IN" dirty="0"/>
              <a:t> (self-hosted gateway, port 18789) — runs the grocery price agent using a custom skill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SearXNG</a:t>
            </a:r>
            <a:r>
              <a:rPr lang="en-IN" dirty="0"/>
              <a:t> (self-hosted, port 8888) — live web search that powers the </a:t>
            </a:r>
            <a:r>
              <a:rPr lang="en-IN" dirty="0" err="1"/>
              <a:t>OpenClaw</a:t>
            </a:r>
            <a:r>
              <a:rPr lang="en-IN" dirty="0"/>
              <a:t> agent across </a:t>
            </a:r>
            <a:r>
              <a:rPr lang="en-IN" dirty="0" err="1"/>
              <a:t>Blinkit</a:t>
            </a:r>
            <a:r>
              <a:rPr lang="en-IN" dirty="0"/>
              <a:t>, </a:t>
            </a:r>
            <a:r>
              <a:rPr lang="en-IN" dirty="0" err="1"/>
              <a:t>Zepto</a:t>
            </a:r>
            <a:r>
              <a:rPr lang="en-IN" dirty="0"/>
              <a:t>, and </a:t>
            </a:r>
            <a:r>
              <a:rPr lang="en-IN" dirty="0" err="1"/>
              <a:t>Instamart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System Flow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selects a recipe and taps "Get Ingredients"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 sends each ingredient to the </a:t>
            </a:r>
            <a:r>
              <a:rPr lang="en-US" dirty="0" err="1"/>
              <a:t>OpenClaw</a:t>
            </a:r>
            <a:r>
              <a:rPr lang="en-US" dirty="0"/>
              <a:t> gateway running on the local machine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OpenClaw</a:t>
            </a:r>
            <a:r>
              <a:rPr lang="en-US" dirty="0"/>
              <a:t> picks up the grocery skill and runs it against </a:t>
            </a:r>
            <a:r>
              <a:rPr lang="en-US" dirty="0" err="1"/>
              <a:t>SearXNG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SearXNG</a:t>
            </a:r>
            <a:r>
              <a:rPr lang="en-US" dirty="0"/>
              <a:t> searches </a:t>
            </a:r>
            <a:r>
              <a:rPr lang="en-US" dirty="0" err="1"/>
              <a:t>Blinkit</a:t>
            </a:r>
            <a:r>
              <a:rPr lang="en-US" dirty="0"/>
              <a:t>, </a:t>
            </a:r>
            <a:r>
              <a:rPr lang="en-US" dirty="0" err="1"/>
              <a:t>Zepto</a:t>
            </a:r>
            <a:r>
              <a:rPr lang="en-US" dirty="0"/>
              <a:t>, and </a:t>
            </a:r>
            <a:r>
              <a:rPr lang="en-US" dirty="0" err="1"/>
              <a:t>Instamart</a:t>
            </a:r>
            <a:r>
              <a:rPr lang="en-US" dirty="0"/>
              <a:t> in real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Results are parsed, validated, and the cheapest option is flagged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 displays the live price comparison per ingredient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678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496796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Use cases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609600" y="1286200"/>
            <a:ext cx="1084190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Real-life scenarios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working professional gets home at 8pm with no idea what to cook — selects "Quick Cook", gets 3 sub-30-minute Indian recipes with full steps, buys all ingredients from the cheapest store without opening a second 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student on a tight budget selects "Budget Friendly", sees recipes under ₹150 per serving, and the price comparison confirms which store saves them the most that day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Someone on a health goal picks "Healthy", gets high-protein meals with full macros displayed, and shops for ingredients without overpaying out of app habit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family cooking for the weekend selects "Weekend Mode", gets an elaborate slow-cooked recipe, pushes the full ingredient list to grocery in one tap instead of manually searching each item across three apps</a:t>
            </a:r>
          </a:p>
          <a:p>
            <a:endParaRPr lang="en-US" dirty="0"/>
          </a:p>
          <a:p>
            <a:r>
              <a:rPr lang="en-US" b="1" dirty="0"/>
              <a:t>Scale potential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Cooking is a daily decision for 50M+ urban Indians — this isn't a niche use case, it's a daily utility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Every percentage point shift from ordering out to cooking at home is a massive </a:t>
            </a:r>
            <a:r>
              <a:rPr lang="en-US" dirty="0" err="1"/>
              <a:t>behavioural</a:t>
            </a:r>
            <a:r>
              <a:rPr lang="en-US" dirty="0"/>
              <a:t> unlock — </a:t>
            </a:r>
            <a:r>
              <a:rPr lang="en-US" dirty="0" err="1"/>
              <a:t>LobsterClaw</a:t>
            </a:r>
            <a:r>
              <a:rPr lang="en-US" dirty="0"/>
              <a:t> sits right at that tipping 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self-hosted AI stack means the cost per user doesn't scale with usage — making it viable to grow without burning on API costs</a:t>
            </a:r>
          </a:p>
        </p:txBody>
      </p:sp>
    </p:spTree>
    <p:extLst>
      <p:ext uri="{BB962C8B-B14F-4D97-AF65-F5344CB8AC3E}">
        <p14:creationId xmlns:p14="http://schemas.microsoft.com/office/powerpoint/2010/main" val="2277358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109728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Why </a:t>
            </a:r>
            <a:r>
              <a:rPr lang="en-US" b="1" dirty="0" err="1"/>
              <a:t>LobsterClaw</a:t>
            </a:r>
            <a:r>
              <a:rPr lang="en-US" b="1" dirty="0"/>
              <a:t> stands out</a:t>
            </a:r>
            <a:r>
              <a:rPr lang="en-US" dirty="0"/>
              <a:t> </a:t>
            </a:r>
          </a:p>
          <a:p>
            <a:r>
              <a:rPr lang="en-US" dirty="0"/>
              <a:t>Every existing app solves half the problem — recipe apps stop at inspiration, grocery apps stop at the cart. </a:t>
            </a:r>
            <a:r>
              <a:rPr lang="en-US" dirty="0" err="1"/>
              <a:t>LobsterClaw</a:t>
            </a:r>
            <a:r>
              <a:rPr lang="en-US" dirty="0"/>
              <a:t> is the only app that connects the two in a single flow, on the device already in your hand.</a:t>
            </a:r>
          </a:p>
          <a:p>
            <a:endParaRPr lang="en-US" dirty="0"/>
          </a:p>
          <a:p>
            <a:r>
              <a:rPr lang="en-US" b="1" dirty="0"/>
              <a:t>MOAT 1 — Self-hosted AI pipeline</a:t>
            </a:r>
            <a:r>
              <a:rPr lang="en-US" dirty="0"/>
              <a:t> </a:t>
            </a:r>
            <a:r>
              <a:rPr lang="en-US" dirty="0" err="1"/>
              <a:t>OpenClaw</a:t>
            </a:r>
            <a:r>
              <a:rPr lang="en-US" dirty="0"/>
              <a:t> + </a:t>
            </a:r>
            <a:r>
              <a:rPr lang="en-US" dirty="0" err="1"/>
              <a:t>SearXNG</a:t>
            </a:r>
            <a:r>
              <a:rPr lang="en-US" dirty="0"/>
              <a:t> means the entire price intelligence layer is owned, not rented. No paid scraping APIs, no third-party price feeds, no rate limits. Competitors would need to build or license the same infrastructure to replicate it — and most won't bother because it looks like infra work, not product work.</a:t>
            </a:r>
          </a:p>
          <a:p>
            <a:endParaRPr lang="en-US" dirty="0"/>
          </a:p>
          <a:p>
            <a:r>
              <a:rPr lang="en-US" b="1" dirty="0"/>
              <a:t>MOAT 2 — Taste profile </a:t>
            </a:r>
            <a:r>
              <a:rPr lang="en-US" b="1" dirty="0" err="1"/>
              <a:t>personalisation</a:t>
            </a:r>
            <a:r>
              <a:rPr lang="en-US" dirty="0"/>
              <a:t> The onboarding isn't a filter — it's the prompt. Every recipe generated is shaped by the user's cuisine preferences, dietary goal, spice level, and household size from day one. The longer someone uses </a:t>
            </a:r>
            <a:r>
              <a:rPr lang="en-US" dirty="0" err="1"/>
              <a:t>LobsterClaw</a:t>
            </a:r>
            <a:r>
              <a:rPr lang="en-US" dirty="0"/>
              <a:t>, the more </a:t>
            </a:r>
            <a:r>
              <a:rPr lang="en-US" dirty="0" err="1"/>
              <a:t>dialled</a:t>
            </a:r>
            <a:r>
              <a:rPr lang="en-US" dirty="0"/>
              <a:t> in it gets. Switching to another app means starting from zero.</a:t>
            </a:r>
          </a:p>
        </p:txBody>
      </p:sp>
    </p:spTree>
    <p:extLst>
      <p:ext uri="{BB962C8B-B14F-4D97-AF65-F5344CB8AC3E}">
        <p14:creationId xmlns:p14="http://schemas.microsoft.com/office/powerpoint/2010/main" val="1746425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 Link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55705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https://github.com/Tornado025/LobsterClawe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8279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1234</Words>
  <Application>Microsoft Office PowerPoint</Application>
  <PresentationFormat>Widescreen</PresentationFormat>
  <Paragraphs>108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Berlin Sans FB Demi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Prakhar Chandrakar ./PRISM /SRI-Bangalore/Professional/Samsung Electronics</dc:creator>
  <cp:lastModifiedBy>Ajay Girish</cp:lastModifiedBy>
  <cp:revision>4</cp:revision>
  <dcterms:created xsi:type="dcterms:W3CDTF">2026-04-27T09:11:02Z</dcterms:created>
  <dcterms:modified xsi:type="dcterms:W3CDTF">2026-05-08T13:53:25Z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